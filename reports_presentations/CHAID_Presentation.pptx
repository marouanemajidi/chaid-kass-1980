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37"/>
  </p:notesMasterIdLst>
  <p:sldIdLst>
    <p:sldId id="297" r:id="rId12"/>
    <p:sldId id="256" r:id="rId13"/>
    <p:sldId id="257" r:id="rId14"/>
    <p:sldId id="258" r:id="rId15"/>
    <p:sldId id="259" r:id="rId16"/>
    <p:sldId id="260" r:id="rId17"/>
    <p:sldId id="261" r:id="rId18"/>
    <p:sldId id="266" r:id="rId19"/>
    <p:sldId id="262" r:id="rId20"/>
    <p:sldId id="268" r:id="rId21"/>
    <p:sldId id="263" r:id="rId22"/>
    <p:sldId id="269" r:id="rId23"/>
    <p:sldId id="271" r:id="rId24"/>
    <p:sldId id="284" r:id="rId25"/>
    <p:sldId id="270" r:id="rId26"/>
    <p:sldId id="285" r:id="rId27"/>
    <p:sldId id="295" r:id="rId28"/>
    <p:sldId id="296" r:id="rId29"/>
    <p:sldId id="273" r:id="rId30"/>
    <p:sldId id="274" r:id="rId31"/>
    <p:sldId id="277" r:id="rId32"/>
    <p:sldId id="280" r:id="rId33"/>
    <p:sldId id="289" r:id="rId34"/>
    <p:sldId id="290" r:id="rId35"/>
    <p:sldId id="294" r:id="rId36"/>
  </p:sldIdLst>
  <p:sldSz cx="12188825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35"/>
    <a:srgbClr val="EA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viewProps" Target="viewProps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D1DFC-80B3-40A9-A71F-C19E58D3BC5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9F018-DBB5-4A8F-AD62-ABFAF5214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ALL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AB526-5976-42D6-BD36-03EEA3162514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996E69-580A-44E8-A148-38355F81245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56B1B85-8BB7-4F2F-B633-8792DF9F15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AC05DF2-77CA-4D46-8788-6CFAEAA89FE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91D6A4-B6C2-4282-A8B5-678C467F57D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AFFA785-A1D9-4E37-AAD3-0ADBE5F486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6DA9F34B-EA0C-44FA-B0E1-B1CA5180139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0268FE5-2E21-4255-8F15-72B26B91EB4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066C335-3085-4664-892E-43A8D02554D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9F35920-74A8-46B3-9B85-36844587A1C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AF690B22-9E4A-4222-B285-212A9978F57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992A3391-D4AB-4DA1-807A-8F2B069A36A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E9BFA5-3F94-463E-B913-8969B5954FC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B1555F-EEF6-4527-A3F7-8ED795A854C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4DC725-7061-42CF-8A3F-F6A3C1204DC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CA5714-E3EB-4B10-8CBF-69C2D190E23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EDC2B8-4ED3-4B6A-915F-0574EE28DCA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2C46E4-57C5-440A-9C19-0200EE03C7B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315A0F-4C93-4229-B8DD-C4466C726E8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B83524-4A25-4044-A993-113FDF0409B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D03F28-3807-4742-987E-C536FC8596A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E7CE74-3F90-43F9-9DA6-0F40479BB88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4AADE3-52AB-4B5A-B658-95476E2187E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286" y="893"/>
            <a:ext cx="5055830" cy="6883591"/>
          </a:xfrm>
          <a:prstGeom prst="rect">
            <a:avLst/>
          </a:prstGeom>
          <a:solidFill>
            <a:srgbClr val="CC0035"/>
          </a:solidFill>
        </p:spPr>
      </p:sp>
      <p:grpSp>
        <p:nvGrpSpPr>
          <p:cNvPr id="4" name="Group 4"/>
          <p:cNvGrpSpPr/>
          <p:nvPr/>
        </p:nvGrpSpPr>
        <p:grpSpPr>
          <a:xfrm>
            <a:off x="1048007" y="1989586"/>
            <a:ext cx="3947612" cy="3479275"/>
            <a:chOff x="0" y="-28575"/>
            <a:chExt cx="7897281" cy="6960361"/>
          </a:xfrm>
        </p:grpSpPr>
        <p:sp>
          <p:nvSpPr>
            <p:cNvPr id="5" name="TextBox 5"/>
            <p:cNvSpPr txBox="1"/>
            <p:nvPr/>
          </p:nvSpPr>
          <p:spPr>
            <a:xfrm>
              <a:off x="0" y="1346777"/>
              <a:ext cx="7897281" cy="1462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52"/>
                </a:lnSpc>
              </a:pPr>
              <a:endParaRPr lang="en-US" sz="5332" spc="-91" dirty="0">
                <a:solidFill>
                  <a:srgbClr val="EFF3F4"/>
                </a:solidFill>
                <a:latin typeface="Poppins Bold" panose="020B0604020202020204" charset="0"/>
                <a:cs typeface="Poppins Bold" panose="020B060402020202020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897281" cy="497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9"/>
                </a:lnSpc>
              </a:pPr>
              <a:endParaRPr lang="en-US" sz="1600" spc="80" dirty="0">
                <a:solidFill>
                  <a:srgbClr val="EFF3F4"/>
                </a:solidFill>
                <a:latin typeface="Poppins Medium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388675"/>
              <a:ext cx="7897281" cy="543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26"/>
                </a:lnSpc>
              </a:pPr>
              <a:endParaRPr sz="1200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903420" y="893"/>
            <a:ext cx="2285405" cy="2498146"/>
            <a:chOff x="0" y="0"/>
            <a:chExt cx="2653030" cy="2653030"/>
          </a:xfrm>
          <a:solidFill>
            <a:srgbClr val="CC0035"/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53030" cy="2654300"/>
            </a:xfrm>
            <a:custGeom>
              <a:avLst/>
              <a:gdLst/>
              <a:ahLst/>
              <a:cxnLst/>
              <a:rect l="l" t="t" r="r" b="b"/>
              <a:pathLst>
                <a:path w="2653030" h="2654300">
                  <a:moveTo>
                    <a:pt x="0" y="1535430"/>
                  </a:moveTo>
                  <a:lnTo>
                    <a:pt x="0" y="1463040"/>
                  </a:lnTo>
                  <a:lnTo>
                    <a:pt x="1463040" y="0"/>
                  </a:lnTo>
                  <a:lnTo>
                    <a:pt x="1535430" y="0"/>
                  </a:lnTo>
                  <a:lnTo>
                    <a:pt x="0" y="1535430"/>
                  </a:lnTo>
                  <a:close/>
                  <a:moveTo>
                    <a:pt x="1681480" y="0"/>
                  </a:moveTo>
                  <a:lnTo>
                    <a:pt x="1609090" y="0"/>
                  </a:lnTo>
                  <a:lnTo>
                    <a:pt x="0" y="1607820"/>
                  </a:lnTo>
                  <a:lnTo>
                    <a:pt x="0" y="1680210"/>
                  </a:lnTo>
                  <a:lnTo>
                    <a:pt x="1681480" y="0"/>
                  </a:lnTo>
                  <a:close/>
                  <a:moveTo>
                    <a:pt x="1390650" y="0"/>
                  </a:moveTo>
                  <a:lnTo>
                    <a:pt x="1318260" y="0"/>
                  </a:lnTo>
                  <a:lnTo>
                    <a:pt x="0" y="1318260"/>
                  </a:lnTo>
                  <a:lnTo>
                    <a:pt x="0" y="1390650"/>
                  </a:lnTo>
                  <a:lnTo>
                    <a:pt x="1390650" y="0"/>
                  </a:lnTo>
                  <a:close/>
                  <a:moveTo>
                    <a:pt x="1245870" y="0"/>
                  </a:moveTo>
                  <a:lnTo>
                    <a:pt x="1173480" y="0"/>
                  </a:lnTo>
                  <a:lnTo>
                    <a:pt x="0" y="1173480"/>
                  </a:lnTo>
                  <a:lnTo>
                    <a:pt x="0" y="1245870"/>
                  </a:lnTo>
                  <a:lnTo>
                    <a:pt x="1245870" y="0"/>
                  </a:lnTo>
                  <a:close/>
                  <a:moveTo>
                    <a:pt x="1826260" y="0"/>
                  </a:moveTo>
                  <a:lnTo>
                    <a:pt x="1753870" y="0"/>
                  </a:lnTo>
                  <a:lnTo>
                    <a:pt x="0" y="1753870"/>
                  </a:lnTo>
                  <a:lnTo>
                    <a:pt x="0" y="1826260"/>
                  </a:lnTo>
                  <a:lnTo>
                    <a:pt x="1826260" y="0"/>
                  </a:lnTo>
                  <a:close/>
                  <a:moveTo>
                    <a:pt x="2260600" y="0"/>
                  </a:moveTo>
                  <a:lnTo>
                    <a:pt x="2188210" y="0"/>
                  </a:lnTo>
                  <a:lnTo>
                    <a:pt x="0" y="2188210"/>
                  </a:lnTo>
                  <a:lnTo>
                    <a:pt x="0" y="2260600"/>
                  </a:lnTo>
                  <a:lnTo>
                    <a:pt x="2260600" y="0"/>
                  </a:lnTo>
                  <a:close/>
                  <a:moveTo>
                    <a:pt x="2551430" y="0"/>
                  </a:moveTo>
                  <a:lnTo>
                    <a:pt x="2479040" y="0"/>
                  </a:lnTo>
                  <a:lnTo>
                    <a:pt x="0" y="2479040"/>
                  </a:lnTo>
                  <a:lnTo>
                    <a:pt x="0" y="2551430"/>
                  </a:lnTo>
                  <a:lnTo>
                    <a:pt x="2551430" y="0"/>
                  </a:lnTo>
                  <a:close/>
                  <a:moveTo>
                    <a:pt x="2405380" y="0"/>
                  </a:moveTo>
                  <a:lnTo>
                    <a:pt x="2332990" y="0"/>
                  </a:lnTo>
                  <a:lnTo>
                    <a:pt x="0" y="2332990"/>
                  </a:lnTo>
                  <a:lnTo>
                    <a:pt x="0" y="2405380"/>
                  </a:lnTo>
                  <a:lnTo>
                    <a:pt x="2405380" y="0"/>
                  </a:lnTo>
                  <a:close/>
                  <a:moveTo>
                    <a:pt x="2115820" y="0"/>
                  </a:moveTo>
                  <a:lnTo>
                    <a:pt x="2043430" y="0"/>
                  </a:lnTo>
                  <a:lnTo>
                    <a:pt x="0" y="2043430"/>
                  </a:lnTo>
                  <a:lnTo>
                    <a:pt x="0" y="2115820"/>
                  </a:lnTo>
                  <a:lnTo>
                    <a:pt x="2115820" y="0"/>
                  </a:lnTo>
                  <a:close/>
                  <a:moveTo>
                    <a:pt x="375920" y="0"/>
                  </a:moveTo>
                  <a:lnTo>
                    <a:pt x="303530" y="0"/>
                  </a:lnTo>
                  <a:lnTo>
                    <a:pt x="0" y="303530"/>
                  </a:lnTo>
                  <a:lnTo>
                    <a:pt x="0" y="375920"/>
                  </a:lnTo>
                  <a:lnTo>
                    <a:pt x="375920" y="0"/>
                  </a:lnTo>
                  <a:close/>
                  <a:moveTo>
                    <a:pt x="1101090" y="0"/>
                  </a:moveTo>
                  <a:lnTo>
                    <a:pt x="1028700" y="0"/>
                  </a:lnTo>
                  <a:lnTo>
                    <a:pt x="0" y="1028700"/>
                  </a:lnTo>
                  <a:lnTo>
                    <a:pt x="0" y="1101090"/>
                  </a:lnTo>
                  <a:lnTo>
                    <a:pt x="1101090" y="0"/>
                  </a:lnTo>
                  <a:close/>
                  <a:moveTo>
                    <a:pt x="2653030" y="0"/>
                  </a:moveTo>
                  <a:lnTo>
                    <a:pt x="2623820" y="0"/>
                  </a:lnTo>
                  <a:lnTo>
                    <a:pt x="0" y="2623820"/>
                  </a:lnTo>
                  <a:lnTo>
                    <a:pt x="0" y="2653030"/>
                  </a:lnTo>
                  <a:lnTo>
                    <a:pt x="43180" y="2653030"/>
                  </a:lnTo>
                  <a:lnTo>
                    <a:pt x="2653030" y="43180"/>
                  </a:lnTo>
                  <a:lnTo>
                    <a:pt x="2653030" y="0"/>
                  </a:lnTo>
                  <a:close/>
                  <a:moveTo>
                    <a:pt x="520700" y="0"/>
                  </a:moveTo>
                  <a:lnTo>
                    <a:pt x="448310" y="0"/>
                  </a:lnTo>
                  <a:lnTo>
                    <a:pt x="0" y="448310"/>
                  </a:lnTo>
                  <a:lnTo>
                    <a:pt x="0" y="520700"/>
                  </a:lnTo>
                  <a:lnTo>
                    <a:pt x="520700" y="0"/>
                  </a:lnTo>
                  <a:close/>
                  <a:moveTo>
                    <a:pt x="85090" y="0"/>
                  </a:moveTo>
                  <a:lnTo>
                    <a:pt x="12700" y="0"/>
                  </a:lnTo>
                  <a:lnTo>
                    <a:pt x="0" y="12700"/>
                  </a:lnTo>
                  <a:lnTo>
                    <a:pt x="0" y="85090"/>
                  </a:lnTo>
                  <a:lnTo>
                    <a:pt x="85090" y="0"/>
                  </a:lnTo>
                  <a:close/>
                  <a:moveTo>
                    <a:pt x="231140" y="0"/>
                  </a:moveTo>
                  <a:lnTo>
                    <a:pt x="158750" y="0"/>
                  </a:lnTo>
                  <a:lnTo>
                    <a:pt x="0" y="157480"/>
                  </a:lnTo>
                  <a:lnTo>
                    <a:pt x="0" y="229870"/>
                  </a:lnTo>
                  <a:lnTo>
                    <a:pt x="231140" y="0"/>
                  </a:lnTo>
                  <a:close/>
                  <a:moveTo>
                    <a:pt x="0" y="956310"/>
                  </a:moveTo>
                  <a:lnTo>
                    <a:pt x="956310" y="0"/>
                  </a:lnTo>
                  <a:lnTo>
                    <a:pt x="883920" y="0"/>
                  </a:lnTo>
                  <a:lnTo>
                    <a:pt x="0" y="882650"/>
                  </a:lnTo>
                  <a:lnTo>
                    <a:pt x="0" y="956310"/>
                  </a:lnTo>
                  <a:close/>
                  <a:moveTo>
                    <a:pt x="665480" y="0"/>
                  </a:moveTo>
                  <a:lnTo>
                    <a:pt x="593090" y="0"/>
                  </a:lnTo>
                  <a:lnTo>
                    <a:pt x="0" y="593090"/>
                  </a:lnTo>
                  <a:lnTo>
                    <a:pt x="0" y="665480"/>
                  </a:lnTo>
                  <a:lnTo>
                    <a:pt x="665480" y="0"/>
                  </a:lnTo>
                  <a:close/>
                  <a:moveTo>
                    <a:pt x="810260" y="0"/>
                  </a:moveTo>
                  <a:lnTo>
                    <a:pt x="737870" y="0"/>
                  </a:lnTo>
                  <a:lnTo>
                    <a:pt x="0" y="737870"/>
                  </a:lnTo>
                  <a:lnTo>
                    <a:pt x="0" y="810260"/>
                  </a:lnTo>
                  <a:lnTo>
                    <a:pt x="810260" y="0"/>
                  </a:lnTo>
                  <a:close/>
                  <a:moveTo>
                    <a:pt x="1971040" y="0"/>
                  </a:moveTo>
                  <a:lnTo>
                    <a:pt x="1898650" y="0"/>
                  </a:lnTo>
                  <a:lnTo>
                    <a:pt x="0" y="1898650"/>
                  </a:lnTo>
                  <a:lnTo>
                    <a:pt x="0" y="1971040"/>
                  </a:lnTo>
                  <a:lnTo>
                    <a:pt x="1971040" y="0"/>
                  </a:lnTo>
                  <a:close/>
                  <a:moveTo>
                    <a:pt x="2653030" y="1783080"/>
                  </a:moveTo>
                  <a:lnTo>
                    <a:pt x="2653030" y="1710690"/>
                  </a:lnTo>
                  <a:lnTo>
                    <a:pt x="1710690" y="2653030"/>
                  </a:lnTo>
                  <a:lnTo>
                    <a:pt x="1783080" y="2653030"/>
                  </a:lnTo>
                  <a:lnTo>
                    <a:pt x="2653030" y="1783080"/>
                  </a:lnTo>
                  <a:close/>
                  <a:moveTo>
                    <a:pt x="2653030" y="1927860"/>
                  </a:moveTo>
                  <a:lnTo>
                    <a:pt x="2653030" y="1855470"/>
                  </a:lnTo>
                  <a:lnTo>
                    <a:pt x="1855470" y="2653030"/>
                  </a:lnTo>
                  <a:lnTo>
                    <a:pt x="1927860" y="2653030"/>
                  </a:lnTo>
                  <a:lnTo>
                    <a:pt x="2653030" y="1927860"/>
                  </a:lnTo>
                  <a:close/>
                  <a:moveTo>
                    <a:pt x="2653030" y="2072640"/>
                  </a:moveTo>
                  <a:lnTo>
                    <a:pt x="2653030" y="2000250"/>
                  </a:lnTo>
                  <a:lnTo>
                    <a:pt x="2000250" y="2653030"/>
                  </a:lnTo>
                  <a:lnTo>
                    <a:pt x="2072640" y="2653030"/>
                  </a:lnTo>
                  <a:lnTo>
                    <a:pt x="2653030" y="2072640"/>
                  </a:lnTo>
                  <a:close/>
                  <a:moveTo>
                    <a:pt x="2653030" y="1638300"/>
                  </a:moveTo>
                  <a:lnTo>
                    <a:pt x="2653030" y="1565910"/>
                  </a:lnTo>
                  <a:lnTo>
                    <a:pt x="1564640" y="2654300"/>
                  </a:lnTo>
                  <a:lnTo>
                    <a:pt x="1637030" y="2654300"/>
                  </a:lnTo>
                  <a:lnTo>
                    <a:pt x="2653030" y="1638300"/>
                  </a:lnTo>
                  <a:close/>
                  <a:moveTo>
                    <a:pt x="2217420" y="2653030"/>
                  </a:moveTo>
                  <a:lnTo>
                    <a:pt x="2653030" y="2217420"/>
                  </a:lnTo>
                  <a:lnTo>
                    <a:pt x="2653030" y="2145030"/>
                  </a:lnTo>
                  <a:lnTo>
                    <a:pt x="2145030" y="2653030"/>
                  </a:lnTo>
                  <a:lnTo>
                    <a:pt x="2217420" y="2653030"/>
                  </a:lnTo>
                  <a:close/>
                  <a:moveTo>
                    <a:pt x="2653030" y="2580640"/>
                  </a:moveTo>
                  <a:lnTo>
                    <a:pt x="2580640" y="2653030"/>
                  </a:lnTo>
                  <a:lnTo>
                    <a:pt x="2653030" y="2653030"/>
                  </a:lnTo>
                  <a:lnTo>
                    <a:pt x="2653030" y="2580640"/>
                  </a:lnTo>
                  <a:close/>
                  <a:moveTo>
                    <a:pt x="2653030" y="2508250"/>
                  </a:moveTo>
                  <a:lnTo>
                    <a:pt x="2653030" y="2435860"/>
                  </a:lnTo>
                  <a:lnTo>
                    <a:pt x="2435860" y="2653030"/>
                  </a:lnTo>
                  <a:lnTo>
                    <a:pt x="2508250" y="2653030"/>
                  </a:lnTo>
                  <a:lnTo>
                    <a:pt x="2653030" y="2508250"/>
                  </a:lnTo>
                  <a:close/>
                  <a:moveTo>
                    <a:pt x="2653030" y="2363470"/>
                  </a:moveTo>
                  <a:lnTo>
                    <a:pt x="2653030" y="2291080"/>
                  </a:lnTo>
                  <a:lnTo>
                    <a:pt x="2291080" y="2653030"/>
                  </a:lnTo>
                  <a:lnTo>
                    <a:pt x="2363470" y="2653030"/>
                  </a:lnTo>
                  <a:lnTo>
                    <a:pt x="2653030" y="2363470"/>
                  </a:lnTo>
                  <a:close/>
                  <a:moveTo>
                    <a:pt x="2653030" y="1492250"/>
                  </a:moveTo>
                  <a:lnTo>
                    <a:pt x="2653030" y="1419860"/>
                  </a:lnTo>
                  <a:lnTo>
                    <a:pt x="1419860" y="2653030"/>
                  </a:lnTo>
                  <a:lnTo>
                    <a:pt x="1492250" y="2653030"/>
                  </a:lnTo>
                  <a:lnTo>
                    <a:pt x="2653030" y="1492250"/>
                  </a:lnTo>
                  <a:close/>
                  <a:moveTo>
                    <a:pt x="2653030" y="187960"/>
                  </a:moveTo>
                  <a:lnTo>
                    <a:pt x="2653030" y="115570"/>
                  </a:lnTo>
                  <a:lnTo>
                    <a:pt x="115570" y="2653030"/>
                  </a:lnTo>
                  <a:lnTo>
                    <a:pt x="187960" y="2653030"/>
                  </a:lnTo>
                  <a:lnTo>
                    <a:pt x="2653030" y="187960"/>
                  </a:lnTo>
                  <a:close/>
                  <a:moveTo>
                    <a:pt x="2653030" y="622300"/>
                  </a:moveTo>
                  <a:lnTo>
                    <a:pt x="2653030" y="549910"/>
                  </a:lnTo>
                  <a:lnTo>
                    <a:pt x="549910" y="2653030"/>
                  </a:lnTo>
                  <a:lnTo>
                    <a:pt x="622300" y="2653030"/>
                  </a:lnTo>
                  <a:lnTo>
                    <a:pt x="2653030" y="622300"/>
                  </a:lnTo>
                  <a:close/>
                  <a:moveTo>
                    <a:pt x="2653030" y="477520"/>
                  </a:moveTo>
                  <a:lnTo>
                    <a:pt x="2653030" y="405130"/>
                  </a:lnTo>
                  <a:lnTo>
                    <a:pt x="405130" y="2653030"/>
                  </a:lnTo>
                  <a:lnTo>
                    <a:pt x="477520" y="2653030"/>
                  </a:lnTo>
                  <a:lnTo>
                    <a:pt x="2653030" y="477520"/>
                  </a:lnTo>
                  <a:close/>
                  <a:moveTo>
                    <a:pt x="2653030" y="1347470"/>
                  </a:moveTo>
                  <a:lnTo>
                    <a:pt x="2653030" y="1275080"/>
                  </a:lnTo>
                  <a:lnTo>
                    <a:pt x="1275080" y="2653030"/>
                  </a:lnTo>
                  <a:lnTo>
                    <a:pt x="1347470" y="2653030"/>
                  </a:lnTo>
                  <a:lnTo>
                    <a:pt x="2653030" y="1347470"/>
                  </a:lnTo>
                  <a:close/>
                  <a:moveTo>
                    <a:pt x="2653030" y="767080"/>
                  </a:moveTo>
                  <a:lnTo>
                    <a:pt x="2653030" y="694690"/>
                  </a:lnTo>
                  <a:lnTo>
                    <a:pt x="694690" y="2653030"/>
                  </a:lnTo>
                  <a:lnTo>
                    <a:pt x="767080" y="2653030"/>
                  </a:lnTo>
                  <a:lnTo>
                    <a:pt x="2653030" y="767080"/>
                  </a:lnTo>
                  <a:close/>
                  <a:moveTo>
                    <a:pt x="2653030" y="332740"/>
                  </a:moveTo>
                  <a:lnTo>
                    <a:pt x="2653030" y="260350"/>
                  </a:lnTo>
                  <a:lnTo>
                    <a:pt x="260350" y="2653030"/>
                  </a:lnTo>
                  <a:lnTo>
                    <a:pt x="332740" y="2653030"/>
                  </a:lnTo>
                  <a:lnTo>
                    <a:pt x="2653030" y="332740"/>
                  </a:lnTo>
                  <a:close/>
                  <a:moveTo>
                    <a:pt x="2653030" y="1202690"/>
                  </a:moveTo>
                  <a:lnTo>
                    <a:pt x="2653030" y="1130300"/>
                  </a:lnTo>
                  <a:lnTo>
                    <a:pt x="1130300" y="2653030"/>
                  </a:lnTo>
                  <a:lnTo>
                    <a:pt x="1202690" y="2653030"/>
                  </a:lnTo>
                  <a:lnTo>
                    <a:pt x="2653030" y="1202690"/>
                  </a:lnTo>
                  <a:close/>
                  <a:moveTo>
                    <a:pt x="2653030" y="913130"/>
                  </a:moveTo>
                  <a:lnTo>
                    <a:pt x="2653030" y="840740"/>
                  </a:lnTo>
                  <a:lnTo>
                    <a:pt x="840740" y="2653030"/>
                  </a:lnTo>
                  <a:lnTo>
                    <a:pt x="913130" y="2653030"/>
                  </a:lnTo>
                  <a:lnTo>
                    <a:pt x="2653030" y="913130"/>
                  </a:lnTo>
                  <a:close/>
                  <a:moveTo>
                    <a:pt x="2653030" y="1057910"/>
                  </a:moveTo>
                  <a:lnTo>
                    <a:pt x="2653030" y="985520"/>
                  </a:lnTo>
                  <a:lnTo>
                    <a:pt x="985520" y="2653030"/>
                  </a:lnTo>
                  <a:lnTo>
                    <a:pt x="1057910" y="2653030"/>
                  </a:lnTo>
                  <a:lnTo>
                    <a:pt x="2653030" y="1057910"/>
                  </a:lnTo>
                  <a:close/>
                </a:path>
              </a:pathLst>
            </a:custGeom>
            <a:grpFill/>
          </p:spPr>
        </p:sp>
      </p:grpSp>
      <p:sp>
        <p:nvSpPr>
          <p:cNvPr id="14" name="AutoShape 14"/>
          <p:cNvSpPr/>
          <p:nvPr/>
        </p:nvSpPr>
        <p:spPr>
          <a:xfrm>
            <a:off x="9903420" y="2616412"/>
            <a:ext cx="2285405" cy="2424083"/>
          </a:xfrm>
          <a:prstGeom prst="rect">
            <a:avLst/>
          </a:prstGeom>
          <a:solidFill>
            <a:srgbClr val="CC0035"/>
          </a:solidFill>
        </p:spPr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30086230-6948-41D1-9DDD-3DAEDF91C863}"/>
              </a:ext>
            </a:extLst>
          </p:cNvPr>
          <p:cNvSpPr/>
          <p:nvPr/>
        </p:nvSpPr>
        <p:spPr>
          <a:xfrm>
            <a:off x="5840479" y="-21872"/>
            <a:ext cx="3758220" cy="5074218"/>
          </a:xfrm>
          <a:prstGeom prst="rect">
            <a:avLst/>
          </a:prstGeom>
          <a:solidFill>
            <a:schemeClr val="tx1"/>
          </a:solidFill>
        </p:spPr>
      </p:sp>
      <p:sp>
        <p:nvSpPr>
          <p:cNvPr id="16" name="ZoneTexte 15"/>
          <p:cNvSpPr txBox="1"/>
          <p:nvPr/>
        </p:nvSpPr>
        <p:spPr>
          <a:xfrm>
            <a:off x="127595" y="1099920"/>
            <a:ext cx="5279212" cy="4616264"/>
          </a:xfrm>
          <a:prstGeom prst="rect">
            <a:avLst/>
          </a:prstGeom>
          <a:noFill/>
          <a:ln w="1270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FR" sz="4799" spc="-91" dirty="0">
              <a:solidFill>
                <a:srgbClr val="EFF3F4"/>
              </a:solidFill>
              <a:latin typeface="Arial Rounded MT Bold" panose="020F0704030504030204" pitchFamily="34" charset="0"/>
              <a:cs typeface="Poppins Bold" panose="020B0604020202020204" charset="0"/>
            </a:endParaRPr>
          </a:p>
          <a:p>
            <a:pPr algn="ctr"/>
            <a:r>
              <a:rPr lang="en-US" sz="5400" b="1" spc="-1" dirty="0">
                <a:solidFill>
                  <a:srgbClr val="FFFFFF"/>
                </a:solidFill>
                <a:latin typeface="Calibri"/>
              </a:rPr>
              <a:t>CHAID</a:t>
            </a:r>
          </a:p>
          <a:p>
            <a:pPr algn="ctr"/>
            <a:r>
              <a:rPr lang="en-US" sz="3200" b="1" spc="-1" dirty="0">
                <a:solidFill>
                  <a:srgbClr val="FFFFFF"/>
                </a:solidFill>
                <a:latin typeface="Calibri"/>
              </a:rPr>
              <a:t>Chi-squared Automatic Interaction Detection</a:t>
            </a:r>
            <a:br>
              <a:rPr lang="en-US" sz="3200" b="1" spc="-1" dirty="0">
                <a:solidFill>
                  <a:srgbClr val="FFFFFF"/>
                </a:solidFill>
                <a:latin typeface="Calibri"/>
              </a:rPr>
            </a:br>
            <a:r>
              <a:rPr lang="en-US" sz="3200" b="1" spc="-1" dirty="0" err="1">
                <a:solidFill>
                  <a:srgbClr val="FFFFFF"/>
                </a:solidFill>
                <a:latin typeface="Calibri"/>
              </a:rPr>
              <a:t>Kass</a:t>
            </a:r>
            <a:r>
              <a:rPr lang="en-US" sz="3200" b="1" spc="-1" dirty="0">
                <a:solidFill>
                  <a:srgbClr val="FFFFFF"/>
                </a:solidFill>
                <a:latin typeface="Calibri"/>
              </a:rPr>
              <a:t> (1980)</a:t>
            </a:r>
          </a:p>
          <a:p>
            <a:pPr algn="ctr"/>
            <a:endParaRPr lang="fr-FR" sz="4799" spc="-91" dirty="0">
              <a:solidFill>
                <a:srgbClr val="EFF3F4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algn="ctr"/>
            <a:endParaRPr lang="fr-FR" sz="4799" spc="-91" dirty="0">
              <a:solidFill>
                <a:srgbClr val="EFF3F4"/>
              </a:solidFill>
              <a:latin typeface="Arial Rounded MT Bold" panose="020F0704030504030204" pitchFamily="34" charset="0"/>
              <a:cs typeface="Poppins Bold" panose="020B0604020202020204" charset="0"/>
            </a:endParaRPr>
          </a:p>
        </p:txBody>
      </p:sp>
      <p:sp>
        <p:nvSpPr>
          <p:cNvPr id="17" name="ZoneTexte 15">
            <a:extLst>
              <a:ext uri="{FF2B5EF4-FFF2-40B4-BE49-F238E27FC236}">
                <a16:creationId xmlns:a16="http://schemas.microsoft.com/office/drawing/2014/main" id="{C1C1D454-BB5A-4B3F-934A-96CBA8838C37}"/>
              </a:ext>
            </a:extLst>
          </p:cNvPr>
          <p:cNvSpPr txBox="1"/>
          <p:nvPr/>
        </p:nvSpPr>
        <p:spPr>
          <a:xfrm>
            <a:off x="6203612" y="407422"/>
            <a:ext cx="3031953" cy="2677656"/>
          </a:xfrm>
          <a:prstGeom prst="rect">
            <a:avLst/>
          </a:prstGeom>
          <a:noFill/>
          <a:ln w="1270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spc="-1" dirty="0">
                <a:solidFill>
                  <a:srgbClr val="FFFFFF"/>
                </a:solidFill>
                <a:latin typeface="Calibri"/>
              </a:rPr>
              <a:t>Marouane Majidi</a:t>
            </a:r>
          </a:p>
          <a:p>
            <a:pPr algn="ctr"/>
            <a:endParaRPr lang="fr-FR" sz="2800" b="1" spc="-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fr-FR" sz="2800" b="1" spc="-1" dirty="0">
                <a:solidFill>
                  <a:srgbClr val="FFFFFF"/>
                </a:solidFill>
                <a:latin typeface="Calibri"/>
              </a:rPr>
              <a:t>Walid El </a:t>
            </a:r>
            <a:r>
              <a:rPr lang="fr-FR" sz="2800" b="1" spc="-1" dirty="0" err="1">
                <a:solidFill>
                  <a:srgbClr val="FFFFFF"/>
                </a:solidFill>
                <a:latin typeface="Calibri"/>
              </a:rPr>
              <a:t>Majdi</a:t>
            </a:r>
            <a:endParaRPr lang="fr-FR" sz="2800" b="1" spc="-1" dirty="0">
              <a:solidFill>
                <a:srgbClr val="FFFFFF"/>
              </a:solidFill>
              <a:latin typeface="Calibri"/>
            </a:endParaRPr>
          </a:p>
          <a:p>
            <a:pPr algn="ctr"/>
            <a:endParaRPr lang="fr-FR" sz="2800" b="1" spc="-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fr-FR" sz="2800" b="1" spc="-1" dirty="0" err="1">
                <a:solidFill>
                  <a:srgbClr val="FFFFFF"/>
                </a:solidFill>
                <a:latin typeface="Calibri"/>
              </a:rPr>
              <a:t>Chadia</a:t>
            </a:r>
            <a:r>
              <a:rPr lang="fr-FR" sz="2800" b="1" spc="-1">
                <a:solidFill>
                  <a:srgbClr val="FFFFFF"/>
                </a:solidFill>
                <a:latin typeface="Calibri"/>
              </a:rPr>
              <a:t> Naim</a:t>
            </a:r>
            <a:endParaRPr lang="fr-FR" sz="2800" b="1" spc="-1" dirty="0">
              <a:solidFill>
                <a:srgbClr val="FFFFFF"/>
              </a:solidFill>
              <a:latin typeface="Calibri"/>
            </a:endParaRPr>
          </a:p>
          <a:p>
            <a:pPr algn="ctr"/>
            <a:endParaRPr lang="fr-FR" sz="2800" b="1" spc="-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8" name="Picture 4" descr="Afficher l’image source">
            <a:extLst>
              <a:ext uri="{FF2B5EF4-FFF2-40B4-BE49-F238E27FC236}">
                <a16:creationId xmlns:a16="http://schemas.microsoft.com/office/drawing/2014/main" id="{69E19BD8-E35F-492A-A512-F0FA6DE06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895" y="5387507"/>
            <a:ext cx="5809836" cy="1220387"/>
          </a:xfrm>
          <a:prstGeom prst="rect">
            <a:avLst/>
          </a:prstGeom>
          <a:noFill/>
        </p:spPr>
      </p:pic>
      <p:sp>
        <p:nvSpPr>
          <p:cNvPr id="19" name="Slide Number Placeholder 10">
            <a:extLst>
              <a:ext uri="{FF2B5EF4-FFF2-40B4-BE49-F238E27FC236}">
                <a16:creationId xmlns:a16="http://schemas.microsoft.com/office/drawing/2014/main" id="{B4C7C5D5-2178-4722-B146-92D2D3C9A959}"/>
              </a:ext>
            </a:extLst>
          </p:cNvPr>
          <p:cNvSpPr txBox="1">
            <a:spLocks/>
          </p:cNvSpPr>
          <p:nvPr/>
        </p:nvSpPr>
        <p:spPr>
          <a:xfrm>
            <a:off x="11930541" y="6539918"/>
            <a:ext cx="223201" cy="235831"/>
          </a:xfrm>
          <a:prstGeom prst="rect">
            <a:avLst/>
          </a:prstGeom>
        </p:spPr>
        <p:txBody>
          <a:bodyPr vert="horz" lIns="60944" tIns="30472" rIns="60944" bIns="30472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600">
                <a:solidFill>
                  <a:schemeClr val="tx1"/>
                </a:solidFill>
              </a:rPr>
              <a:pPr/>
              <a:t>1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" name="ZoneTexte 15">
            <a:extLst>
              <a:ext uri="{FF2B5EF4-FFF2-40B4-BE49-F238E27FC236}">
                <a16:creationId xmlns:a16="http://schemas.microsoft.com/office/drawing/2014/main" id="{5B40D0FF-6DC1-4F01-9402-DE1ED65F5758}"/>
              </a:ext>
            </a:extLst>
          </p:cNvPr>
          <p:cNvSpPr txBox="1"/>
          <p:nvPr/>
        </p:nvSpPr>
        <p:spPr>
          <a:xfrm>
            <a:off x="6022044" y="3241453"/>
            <a:ext cx="3395087" cy="954107"/>
          </a:xfrm>
          <a:prstGeom prst="rect">
            <a:avLst/>
          </a:prstGeom>
          <a:noFill/>
          <a:ln w="1270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b="1" spc="-1" dirty="0">
                <a:solidFill>
                  <a:srgbClr val="FFFFFF"/>
                </a:solidFill>
                <a:latin typeface="Calibri"/>
              </a:rPr>
              <a:t>Encadré par:</a:t>
            </a:r>
          </a:p>
          <a:p>
            <a:pPr algn="ctr"/>
            <a:r>
              <a:rPr lang="fr-FR" sz="2800" b="1" spc="-1" dirty="0">
                <a:solidFill>
                  <a:srgbClr val="FFFFFF"/>
                </a:solidFill>
                <a:latin typeface="Calibri"/>
              </a:rPr>
              <a:t>M. Mohamed Hosni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866320" y="2286000"/>
            <a:ext cx="64555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5400" b="1" strike="noStrike" spc="-1" dirty="0" err="1">
                <a:solidFill>
                  <a:srgbClr val="FFFFFF"/>
                </a:solidFill>
                <a:latin typeface="Calibri"/>
              </a:rPr>
              <a:t>Algorithme</a:t>
            </a:r>
            <a:r>
              <a:rPr lang="en-US" sz="5400" b="1" strike="noStrike" spc="-1" dirty="0">
                <a:solidFill>
                  <a:srgbClr val="FFFFFF"/>
                </a:solidFill>
                <a:latin typeface="Calibri"/>
              </a:rPr>
              <a:t> CHAID</a:t>
            </a:r>
            <a:endParaRPr lang="en-US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212020" y="3840480"/>
            <a:ext cx="576411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strike="noStrike" spc="-1" dirty="0">
                <a:solidFill>
                  <a:schemeClr val="bg1"/>
                </a:solidFill>
                <a:latin typeface="Calibri"/>
              </a:rPr>
              <a:t>Chi-squared Automatic Interaction Detection</a:t>
            </a:r>
            <a:br>
              <a:rPr sz="2400" dirty="0">
                <a:solidFill>
                  <a:schemeClr val="bg1"/>
                </a:solidFill>
              </a:rPr>
            </a:br>
            <a:r>
              <a:rPr lang="en-US" sz="2400" b="0" strike="noStrike" spc="-1" dirty="0" err="1">
                <a:solidFill>
                  <a:schemeClr val="bg1"/>
                </a:solidFill>
                <a:latin typeface="Calibri"/>
              </a:rPr>
              <a:t>Kass</a:t>
            </a:r>
            <a:r>
              <a:rPr lang="en-US" sz="2400" b="0" strike="noStrike" spc="-1" dirty="0">
                <a:solidFill>
                  <a:schemeClr val="bg1"/>
                </a:solidFill>
                <a:latin typeface="Calibri"/>
              </a:rPr>
              <a:t> (1980)</a:t>
            </a:r>
            <a:endParaRPr lang="en-US" sz="24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305" y="0"/>
            <a:ext cx="12188520" cy="6857640"/>
          </a:xfrm>
          <a:prstGeom prst="rect">
            <a:avLst/>
          </a:prstGeom>
          <a:solidFill>
            <a:srgbClr val="EA003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2687400" y="2743200"/>
            <a:ext cx="68133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800" b="1" strike="noStrike" spc="-1">
                <a:solidFill>
                  <a:srgbClr val="FFFFFF"/>
                </a:solidFill>
                <a:latin typeface="Calibri"/>
              </a:rPr>
              <a:t>Partie 1 : Le Test du χ²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2519640" y="274320"/>
            <a:ext cx="71488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Hypothèses Statistiques du Test χ²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457200" y="1371600"/>
            <a:ext cx="11274120" cy="237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H₀ : La variable explicative X et la variable dépendante Y sont indépendantes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H₁ : X et Y sont dépendantes (associées)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Rejeter H₀ signifie que la distribution de Y varie selon les modalités de X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Cela justifie d'utiliser X pour partitionner les données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Une p-value faible (&lt; 0.05) conduit à rejeter H₀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88520" cy="68580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025520" y="108360"/>
            <a:ext cx="41374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Formules du Test χ²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3"/>
          <p:cNvSpPr/>
          <p:nvPr/>
        </p:nvSpPr>
        <p:spPr>
          <a:xfrm>
            <a:off x="731880" y="182880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25400">
            <a:solidFill>
              <a:srgbClr val="3A7C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4592880" y="1920240"/>
            <a:ext cx="29761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1A477A"/>
                </a:solidFill>
                <a:latin typeface="Calibri"/>
              </a:rPr>
              <a:t>χ² = Σᵢ Σⱼ (nᵢⱼ - eᵢⱼ)² / eᵢⱼ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2011320" y="2514600"/>
            <a:ext cx="82306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2C3E50"/>
                </a:solidFill>
                <a:latin typeface="Calibri"/>
              </a:rPr>
              <a:t>Statistique du χ² : mesure l'écart quadratique pondéré entre observations et attentes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731880" y="310896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25400">
            <a:solidFill>
              <a:srgbClr val="3A7C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4915080" y="3200400"/>
            <a:ext cx="233136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1A477A"/>
                </a:solidFill>
                <a:latin typeface="Calibri"/>
              </a:rPr>
              <a:t>eᵢⱼ = (nᵢ. × n.ⱼ) / n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2757240" y="3794760"/>
            <a:ext cx="6647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2C3E50"/>
                </a:solidFill>
                <a:latin typeface="Calibri"/>
              </a:rPr>
              <a:t>Fréquence attendue : sous H₀, proportion de j appliquée au groupe 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9"/>
          <p:cNvSpPr/>
          <p:nvPr/>
        </p:nvSpPr>
        <p:spPr>
          <a:xfrm>
            <a:off x="731880" y="438912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25400">
            <a:solidFill>
              <a:srgbClr val="3A7C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723920" y="4480560"/>
            <a:ext cx="27140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1A477A"/>
                </a:solidFill>
                <a:latin typeface="Calibri"/>
              </a:rPr>
              <a:t>ddl = (c - 1) × (d - 1)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2766960" y="5074920"/>
            <a:ext cx="6627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2C3E50"/>
                </a:solidFill>
                <a:latin typeface="Calibri"/>
              </a:rPr>
              <a:t>Degrés de liberté : cellules libres une fois fixés les totaux marginaux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12"/>
          <p:cNvSpPr/>
          <p:nvPr/>
        </p:nvSpPr>
        <p:spPr>
          <a:xfrm>
            <a:off x="731880" y="566928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25400">
            <a:solidFill>
              <a:srgbClr val="3A7C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4530240" y="5760720"/>
            <a:ext cx="31010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1A477A"/>
                </a:solidFill>
                <a:latin typeface="Calibri"/>
              </a:rPr>
              <a:t>p = P(χ²_ddl ≥ χ²_obs)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3174120" y="6355080"/>
            <a:ext cx="581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2C3E50"/>
                </a:solidFill>
                <a:latin typeface="Calibri"/>
              </a:rPr>
              <a:t>p-value : probabilité d'observer un χ² aussi extrême sous H₀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1"/>
          <p:cNvSpPr/>
          <p:nvPr/>
        </p:nvSpPr>
        <p:spPr>
          <a:xfrm>
            <a:off x="685800" y="79488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25400">
            <a:solidFill>
              <a:srgbClr val="3A7C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endParaRPr lang="en-US" sz="2200" b="1" strike="noStrike" spc="-1">
              <a:solidFill>
                <a:srgbClr val="1A477A"/>
              </a:solidFill>
              <a:latin typeface="Calibri"/>
            </a:endParaRPr>
          </a:p>
        </p:txBody>
      </p:sp>
      <p:sp>
        <p:nvSpPr>
          <p:cNvPr id="90" name="TextBox 1"/>
          <p:cNvSpPr/>
          <p:nvPr/>
        </p:nvSpPr>
        <p:spPr>
          <a:xfrm>
            <a:off x="4790600" y="884700"/>
            <a:ext cx="2672119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1A477A"/>
                </a:solidFill>
                <a:latin typeface="Calibri"/>
              </a:rPr>
              <a:t>Table de Contingence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5"/>
          <p:cNvSpPr/>
          <p:nvPr/>
        </p:nvSpPr>
        <p:spPr>
          <a:xfrm>
            <a:off x="1919520" y="1480680"/>
            <a:ext cx="82306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4381200" y="274320"/>
            <a:ext cx="3428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Exemple du test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3200400" y="1143000"/>
            <a:ext cx="577872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2C3E50"/>
                </a:solidFill>
                <a:latin typeface="Calibri"/>
              </a:rPr>
              <a:t>Croisement entre type de diplôme et situation académique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2"/>
          <a:srcRect l="2427" t="10992" r="5354"/>
          <a:stretch/>
        </p:blipFill>
        <p:spPr>
          <a:xfrm>
            <a:off x="2286000" y="1581480"/>
            <a:ext cx="7086600" cy="150732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3"/>
          <a:stretch/>
        </p:blipFill>
        <p:spPr>
          <a:xfrm>
            <a:off x="2057400" y="3200400"/>
            <a:ext cx="8229600" cy="132228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96"/>
          <p:cNvPicPr/>
          <p:nvPr/>
        </p:nvPicPr>
        <p:blipFill>
          <a:blip r:embed="rId4"/>
          <a:stretch/>
        </p:blipFill>
        <p:spPr>
          <a:xfrm>
            <a:off x="333720" y="4800600"/>
            <a:ext cx="5381280" cy="169488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97"/>
          <p:cNvPicPr/>
          <p:nvPr/>
        </p:nvPicPr>
        <p:blipFill>
          <a:blip r:embed="rId5"/>
          <a:stretch/>
        </p:blipFill>
        <p:spPr>
          <a:xfrm>
            <a:off x="6648840" y="4800600"/>
            <a:ext cx="5009760" cy="286560"/>
          </a:xfrm>
          <a:prstGeom prst="rect">
            <a:avLst/>
          </a:prstGeom>
          <a:ln w="0">
            <a:noFill/>
          </a:ln>
        </p:spPr>
      </p:pic>
      <p:sp>
        <p:nvSpPr>
          <p:cNvPr id="99" name="Straight Connector 98"/>
          <p:cNvSpPr/>
          <p:nvPr/>
        </p:nvSpPr>
        <p:spPr>
          <a:xfrm>
            <a:off x="9144000" y="5145120"/>
            <a:ext cx="0" cy="56988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9"/>
          <p:cNvSpPr/>
          <p:nvPr/>
        </p:nvSpPr>
        <p:spPr>
          <a:xfrm>
            <a:off x="6858000" y="5715000"/>
            <a:ext cx="48006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strike="noStrike" spc="-1">
                <a:solidFill>
                  <a:srgbClr val="2C3E50"/>
                </a:solidFill>
                <a:latin typeface="Calibri"/>
              </a:rPr>
              <a:t>La p-value associée à χ2 = 0.063 avec 2 ddl = 96.9%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EA003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1588680" y="2743200"/>
            <a:ext cx="90111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800" b="1" strike="noStrike" spc="-1">
                <a:solidFill>
                  <a:srgbClr val="FFFFFF"/>
                </a:solidFill>
                <a:latin typeface="Calibri"/>
              </a:rPr>
              <a:t>Partie 2 : L'Algorithme CHAID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2876400" y="274320"/>
            <a:ext cx="643572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Types de Variables Explicatives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457200" y="1371600"/>
            <a:ext cx="11274120" cy="38765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NOMINAL (free predictors) : pas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d'ordre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naturel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spc="-1" dirty="0">
                <a:solidFill>
                  <a:srgbClr val="2C3E50"/>
                </a:solidFill>
                <a:latin typeface="Calibri"/>
              </a:rPr>
              <a:t>	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→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Toute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combinaison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de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catégories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peut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être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fusionnée</a:t>
            </a:r>
            <a:endParaRPr lang="en-US" sz="2200" b="0" strike="noStrike" spc="-1" dirty="0">
              <a:solidFill>
                <a:srgbClr val="2C3E50"/>
              </a:solidFill>
              <a:latin typeface="Calibri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ORDINAL (monotonic predictors) :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ordre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naturel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spc="-1" dirty="0">
                <a:solidFill>
                  <a:srgbClr val="2C3E50"/>
                </a:solidFill>
                <a:latin typeface="Calibri"/>
              </a:rPr>
              <a:t>	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→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Seules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les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catégories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contiguës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peuvent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être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fusionnées</a:t>
            </a:r>
            <a:endParaRPr lang="en-US" sz="2200" b="0" strike="noStrike" spc="-1" dirty="0">
              <a:solidFill>
                <a:srgbClr val="2C3E50"/>
              </a:solidFill>
              <a:latin typeface="Calibri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FLOTTANT (floating predictors) : ordinal +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valeur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spéciale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(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manquante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)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spc="-1" dirty="0">
                <a:solidFill>
                  <a:srgbClr val="2C3E50"/>
                </a:solidFill>
                <a:latin typeface="Calibri"/>
              </a:rPr>
              <a:t>	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→ La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catégorie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flottante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peut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se combiner avec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n'importe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quel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groupe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3760200" y="274320"/>
            <a:ext cx="466776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Les 5 Étapes de CHAID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Oval 3"/>
          <p:cNvSpPr/>
          <p:nvPr/>
        </p:nvSpPr>
        <p:spPr>
          <a:xfrm>
            <a:off x="457200" y="1371600"/>
            <a:ext cx="502560" cy="502560"/>
          </a:xfrm>
          <a:prstGeom prst="ellipse">
            <a:avLst/>
          </a:prstGeom>
          <a:solidFill>
            <a:srgbClr val="3A7CB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538560" y="138996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1191960" y="1464840"/>
            <a:ext cx="22370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3A7CB8"/>
                </a:solidFill>
                <a:latin typeface="Calibri"/>
              </a:rPr>
              <a:t>FUSION (Merging)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4800600" y="1525680"/>
            <a:ext cx="5483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Regrouper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itérativement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les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catégories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similaires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(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minimiser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χ²)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Oval 7"/>
          <p:cNvSpPr/>
          <p:nvPr/>
        </p:nvSpPr>
        <p:spPr>
          <a:xfrm>
            <a:off x="457200" y="2286000"/>
            <a:ext cx="502560" cy="502560"/>
          </a:xfrm>
          <a:prstGeom prst="ellipse">
            <a:avLst/>
          </a:prstGeom>
          <a:solidFill>
            <a:srgbClr val="9B59B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538560" y="230436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9"/>
          <p:cNvSpPr/>
          <p:nvPr/>
        </p:nvSpPr>
        <p:spPr>
          <a:xfrm>
            <a:off x="1245600" y="2194560"/>
            <a:ext cx="2445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9B59B6"/>
                </a:solidFill>
                <a:latin typeface="Calibri"/>
              </a:rPr>
              <a:t>DIVISION (Splitting)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3403080" y="2560320"/>
            <a:ext cx="5903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Vérifier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si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des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groupes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fusionnés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doivent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être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séparés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(maximiser χ²)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Oval 11"/>
          <p:cNvSpPr/>
          <p:nvPr/>
        </p:nvSpPr>
        <p:spPr>
          <a:xfrm>
            <a:off x="457200" y="3200400"/>
            <a:ext cx="502560" cy="502560"/>
          </a:xfrm>
          <a:prstGeom prst="ellipse">
            <a:avLst/>
          </a:prstGeom>
          <a:solidFill>
            <a:srgbClr val="27AE6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538560" y="321876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3"/>
          <p:cNvSpPr/>
          <p:nvPr/>
        </p:nvSpPr>
        <p:spPr>
          <a:xfrm>
            <a:off x="1652040" y="3108960"/>
            <a:ext cx="1633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7AE60"/>
                </a:solidFill>
                <a:latin typeface="Calibri"/>
              </a:rPr>
              <a:t>ÉVALUATION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4"/>
          <p:cNvSpPr/>
          <p:nvPr/>
        </p:nvSpPr>
        <p:spPr>
          <a:xfrm>
            <a:off x="3952440" y="3474720"/>
            <a:ext cx="4804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Calculer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la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significativité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de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chaque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prédicteur</a:t>
            </a:r>
            <a:r>
              <a:rPr lang="en-US" sz="14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1400" b="0" strike="noStrike" spc="-1" dirty="0" err="1">
                <a:solidFill>
                  <a:srgbClr val="2C3E50"/>
                </a:solidFill>
                <a:latin typeface="Calibri"/>
              </a:rPr>
              <a:t>optimisé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Oval 15"/>
          <p:cNvSpPr/>
          <p:nvPr/>
        </p:nvSpPr>
        <p:spPr>
          <a:xfrm>
            <a:off x="457200" y="4114800"/>
            <a:ext cx="502560" cy="502560"/>
          </a:xfrm>
          <a:prstGeom prst="ellipse">
            <a:avLst/>
          </a:prstGeom>
          <a:solidFill>
            <a:srgbClr val="E67E2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16"/>
          <p:cNvSpPr/>
          <p:nvPr/>
        </p:nvSpPr>
        <p:spPr>
          <a:xfrm>
            <a:off x="538560" y="413316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7"/>
          <p:cNvSpPr/>
          <p:nvPr/>
        </p:nvSpPr>
        <p:spPr>
          <a:xfrm>
            <a:off x="1755360" y="4023360"/>
            <a:ext cx="1426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E67E22"/>
                </a:solidFill>
                <a:latin typeface="Calibri"/>
              </a:rPr>
              <a:t>SÉLECTION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3691080" y="4389120"/>
            <a:ext cx="5327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2C3E50"/>
                </a:solidFill>
                <a:latin typeface="Calibri"/>
              </a:rPr>
              <a:t>Choisir le prédicteur avec la p-value la plus faible (χ² maximal)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Oval 19"/>
          <p:cNvSpPr/>
          <p:nvPr/>
        </p:nvSpPr>
        <p:spPr>
          <a:xfrm>
            <a:off x="457200" y="5029200"/>
            <a:ext cx="502560" cy="50256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20"/>
          <p:cNvSpPr/>
          <p:nvPr/>
        </p:nvSpPr>
        <p:spPr>
          <a:xfrm>
            <a:off x="538560" y="504756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5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1"/>
          <p:cNvSpPr/>
          <p:nvPr/>
        </p:nvSpPr>
        <p:spPr>
          <a:xfrm>
            <a:off x="1712880" y="4937760"/>
            <a:ext cx="151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E74C3C"/>
                </a:solidFill>
                <a:latin typeface="Calibri"/>
              </a:rPr>
              <a:t>RÉCURSION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2"/>
          <p:cNvSpPr/>
          <p:nvPr/>
        </p:nvSpPr>
        <p:spPr>
          <a:xfrm>
            <a:off x="3895200" y="5303520"/>
            <a:ext cx="4919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2C3E50"/>
                </a:solidFill>
                <a:latin typeface="Calibri"/>
              </a:rPr>
              <a:t>Partitionner les données et répéter sur chaque nœud fils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2881080" y="274320"/>
            <a:ext cx="642636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Étape 1 : Fusion des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Catégories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457200" y="1371600"/>
            <a:ext cx="11274120" cy="237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1.1 Construire la table de contingence c × d avec la variable cible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1.2 Calculer le χ² pour chaque paire de catégories autorisée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1.3 Identifier la paire avec le χ² le plus faible (similarité maximale)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1.4 Si p-value &gt; α_fusion (0.05), fusionner les deux catégories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>
                <a:solidFill>
                  <a:srgbClr val="2C3E50"/>
                </a:solidFill>
                <a:latin typeface="Calibri"/>
              </a:rPr>
              <a:t>• 1.5 Répéter jusqu'à ce que toutes les paires aient p ≤ α_fusion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1999304" y="213774"/>
            <a:ext cx="8189912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Table de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Comparaison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Paire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à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Paire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(NOMINAL)</a:t>
            </a:r>
          </a:p>
        </p:txBody>
      </p:sp>
      <p:sp>
        <p:nvSpPr>
          <p:cNvPr id="127" name="TextBox 3"/>
          <p:cNvSpPr/>
          <p:nvPr/>
        </p:nvSpPr>
        <p:spPr>
          <a:xfrm>
            <a:off x="3068280" y="1234440"/>
            <a:ext cx="5796949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Comparaison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χ² entre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paires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de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catégories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pour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décider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de la fusion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4" descr="pic2.png"/>
          <p:cNvPicPr/>
          <p:nvPr/>
        </p:nvPicPr>
        <p:blipFill rotWithShape="1">
          <a:blip r:embed="rId2"/>
          <a:srcRect t="21452"/>
          <a:stretch/>
        </p:blipFill>
        <p:spPr>
          <a:xfrm>
            <a:off x="383552" y="1862910"/>
            <a:ext cx="11421720" cy="38782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1899180" y="256799"/>
            <a:ext cx="8390159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Table de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Comparaison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Paire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à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Paire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(NOMINALE)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2772000" y="1234440"/>
            <a:ext cx="664452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Comparaison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χ² entre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paires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de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catégories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pour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décider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de la fusion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Picture 4" descr="pic4.png"/>
          <p:cNvPicPr/>
          <p:nvPr/>
        </p:nvPicPr>
        <p:blipFill rotWithShape="1">
          <a:blip r:embed="rId2"/>
          <a:srcRect t="16629" b="15657"/>
          <a:stretch/>
        </p:blipFill>
        <p:spPr>
          <a:xfrm>
            <a:off x="457200" y="2466975"/>
            <a:ext cx="11421720" cy="3343276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2270520" y="274320"/>
            <a:ext cx="764712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Résultat après Fusion des Catégories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Picture 4" descr="pic7.png"/>
          <p:cNvPicPr/>
          <p:nvPr/>
        </p:nvPicPr>
        <p:blipFill>
          <a:blip r:embed="rId2"/>
          <a:stretch/>
        </p:blipFill>
        <p:spPr>
          <a:xfrm>
            <a:off x="457200" y="1645920"/>
            <a:ext cx="11421720" cy="4937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0" y="-3852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2093880" y="256799"/>
            <a:ext cx="7788456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Table de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Comparaison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Paire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à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Paire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(floating)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2652480" y="1234440"/>
            <a:ext cx="6883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p-value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élevée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= pas de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différence</a:t>
            </a:r>
            <a:r>
              <a:rPr lang="en-US" sz="1600" b="0" strike="noStrike" spc="-1" dirty="0">
                <a:solidFill>
                  <a:srgbClr val="2C3E50"/>
                </a:solidFill>
                <a:latin typeface="Calibri"/>
              </a:rPr>
              <a:t> significative → fusion des </a:t>
            </a:r>
            <a:r>
              <a:rPr lang="en-US" sz="1600" b="0" strike="noStrike" spc="-1" dirty="0" err="1">
                <a:solidFill>
                  <a:srgbClr val="2C3E50"/>
                </a:solidFill>
                <a:latin typeface="Calibri"/>
              </a:rPr>
              <a:t>catégories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Picture 4" descr="pic10.png"/>
          <p:cNvPicPr/>
          <p:nvPr/>
        </p:nvPicPr>
        <p:blipFill rotWithShape="1">
          <a:blip r:embed="rId2"/>
          <a:srcRect t="19330"/>
          <a:stretch/>
        </p:blipFill>
        <p:spPr>
          <a:xfrm>
            <a:off x="383552" y="2085974"/>
            <a:ext cx="11421720" cy="398299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2545560" y="274320"/>
            <a:ext cx="70970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Étape 2 : Vérification des Divisions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457200" y="1371600"/>
            <a:ext cx="11274120" cy="48614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Objectif :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S'assurer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qu'aucun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groupe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composé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ne cache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une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division significative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Pour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chaque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catégorie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composée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de k ≥ 3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catégories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originales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: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spc="-1" dirty="0">
                <a:solidFill>
                  <a:srgbClr val="2C3E50"/>
                </a:solidFill>
                <a:latin typeface="Calibri"/>
              </a:rPr>
              <a:t>	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→</a:t>
            </a:r>
            <a:r>
              <a:rPr lang="en-US" sz="2200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1. Examiner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toutes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les dichotomies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possibles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	→ 2.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Calculer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le χ² de la division la plus significative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	→ 3. Si p-value &lt; α_division (0.049),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implémenter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la division</a:t>
            </a: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spc="-1" dirty="0">
                <a:solidFill>
                  <a:srgbClr val="2C3E50"/>
                </a:solidFill>
                <a:latin typeface="Calibri"/>
              </a:rPr>
              <a:t>• Boucle infinite (merging / </a:t>
            </a:r>
            <a:r>
              <a:rPr lang="en-US" sz="2200" spc="-1" dirty="0" err="1">
                <a:solidFill>
                  <a:srgbClr val="2C3E50"/>
                </a:solidFill>
                <a:latin typeface="Calibri"/>
              </a:rPr>
              <a:t>Spliting</a:t>
            </a:r>
            <a:r>
              <a:rPr lang="en-US" sz="2200" spc="-1" dirty="0">
                <a:solidFill>
                  <a:srgbClr val="2C3E50"/>
                </a:solidFill>
                <a:latin typeface="Calibri"/>
              </a:rPr>
              <a:t>)</a:t>
            </a: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	→ Condition de convergence : α_division &lt; α_fusion</a:t>
            </a: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200" b="0" strike="noStrike" spc="-1" dirty="0">
              <a:solidFill>
                <a:srgbClr val="2C3E50"/>
              </a:solidFill>
              <a:latin typeface="Calibri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2518290" y="256799"/>
            <a:ext cx="72995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Etape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3 :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Sélection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du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meilleur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prédicteur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4" descr="pic11.png"/>
          <p:cNvPicPr/>
          <p:nvPr/>
        </p:nvPicPr>
        <p:blipFill>
          <a:blip r:embed="rId2"/>
          <a:stretch/>
        </p:blipFill>
        <p:spPr>
          <a:xfrm>
            <a:off x="457200" y="1645920"/>
            <a:ext cx="11421720" cy="4937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2518290" y="256799"/>
            <a:ext cx="72995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Etape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3 :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Sélection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du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meilleur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3200" b="1" strike="noStrike" spc="-1" dirty="0" err="1">
                <a:solidFill>
                  <a:srgbClr val="FFFFFF"/>
                </a:solidFill>
                <a:latin typeface="Calibri"/>
              </a:rPr>
              <a:t>prédicteur</a:t>
            </a:r>
            <a:r>
              <a:rPr lang="en-US" sz="32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4" descr="pic11.png"/>
          <p:cNvPicPr/>
          <p:nvPr/>
        </p:nvPicPr>
        <p:blipFill>
          <a:blip r:embed="rId2"/>
          <a:stretch/>
        </p:blipFill>
        <p:spPr>
          <a:xfrm>
            <a:off x="457200" y="1645920"/>
            <a:ext cx="11421720" cy="4937400"/>
          </a:xfrm>
          <a:prstGeom prst="rect">
            <a:avLst/>
          </a:prstGeom>
          <a:ln w="0">
            <a:noFill/>
          </a:ln>
        </p:spPr>
      </p:pic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F9998E23-E968-4500-B1C7-C5AFED14228E}"/>
              </a:ext>
            </a:extLst>
          </p:cNvPr>
          <p:cNvSpPr/>
          <p:nvPr/>
        </p:nvSpPr>
        <p:spPr>
          <a:xfrm flipV="1">
            <a:off x="790575" y="2762250"/>
            <a:ext cx="10115549" cy="29527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569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C5923D-23C9-4647-A273-A3AA5A380D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97" t="2431" r="4480"/>
          <a:stretch/>
        </p:blipFill>
        <p:spPr>
          <a:xfrm>
            <a:off x="1317624" y="72734"/>
            <a:ext cx="9553575" cy="678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33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EA003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805320" y="2743200"/>
            <a:ext cx="10577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800" b="1" strike="noStrike" spc="-1">
                <a:solidFill>
                  <a:srgbClr val="FFFFFF"/>
                </a:solidFill>
                <a:latin typeface="Calibri"/>
              </a:rPr>
              <a:t>Partie 3 : Correction de Bonferroni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3057840" y="274320"/>
            <a:ext cx="60728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Problème des Tests Multiples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457200" y="1371600"/>
            <a:ext cx="11274120" cy="14143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Inflation du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risque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de type I avec m tests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indépendants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P(au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moins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un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rejet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erroné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) = 1 - (1-α)^m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• Plus on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cherche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, plus on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trouve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de « faux </a:t>
            </a:r>
            <a:r>
              <a:rPr lang="en-US" sz="2200" b="0" strike="noStrike" spc="-1" dirty="0" err="1">
                <a:solidFill>
                  <a:srgbClr val="2C3E50"/>
                </a:solidFill>
                <a:latin typeface="Calibri"/>
              </a:rPr>
              <a:t>positifs</a:t>
            </a:r>
            <a:r>
              <a:rPr lang="en-US" sz="2200" b="0" strike="noStrike" spc="-1" dirty="0">
                <a:solidFill>
                  <a:srgbClr val="2C3E50"/>
                </a:solidFill>
                <a:latin typeface="Calibri"/>
              </a:rPr>
              <a:t> »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115184-924A-4C1B-AA28-0BA2CFD39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26" y="3429000"/>
            <a:ext cx="10730772" cy="23810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2179080" y="274320"/>
            <a:ext cx="78300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Formules de Correction de Bonferroni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3"/>
          <p:cNvSpPr/>
          <p:nvPr/>
        </p:nvSpPr>
        <p:spPr>
          <a:xfrm>
            <a:off x="731520" y="128016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25400">
            <a:solidFill>
              <a:srgbClr val="3A7C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5353560" y="1371600"/>
            <a:ext cx="14536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1A477A"/>
                </a:solidFill>
                <a:latin typeface="Calibri"/>
              </a:rPr>
              <a:t>α' = α / m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5"/>
          <p:cNvSpPr/>
          <p:nvPr/>
        </p:nvSpPr>
        <p:spPr>
          <a:xfrm>
            <a:off x="3934080" y="1965960"/>
            <a:ext cx="42930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2C3E50"/>
                </a:solidFill>
                <a:latin typeface="Calibri"/>
              </a:rPr>
              <a:t>Nouveau seuil de signification pour m tests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6"/>
          <p:cNvSpPr/>
          <p:nvPr/>
        </p:nvSpPr>
        <p:spPr>
          <a:xfrm>
            <a:off x="731520" y="256032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E8F4F8"/>
          </a:solidFill>
          <a:ln w="25400">
            <a:solidFill>
              <a:srgbClr val="3A7C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4959976" y="2651760"/>
            <a:ext cx="2240848" cy="4294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 dirty="0" err="1">
                <a:solidFill>
                  <a:srgbClr val="1A477A"/>
                </a:solidFill>
                <a:latin typeface="Calibri"/>
              </a:rPr>
              <a:t>p_ajustée</a:t>
            </a:r>
            <a:r>
              <a:rPr lang="en-US" sz="2200" b="1" strike="noStrike" spc="-1" dirty="0">
                <a:solidFill>
                  <a:srgbClr val="1A477A"/>
                </a:solidFill>
                <a:latin typeface="Calibri"/>
              </a:rPr>
              <a:t> = m × p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3723120" y="3246120"/>
            <a:ext cx="471492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2C3E50"/>
                </a:solidFill>
                <a:latin typeface="Calibri"/>
              </a:rPr>
              <a:t>Ou : multiplier la p-value par le nombre de tests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A50066-C891-48E3-A2E0-52CF06A6D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007" y="3984729"/>
            <a:ext cx="1939619" cy="926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C20A81-C815-4F8C-903D-98EEDE579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858" y="3870764"/>
            <a:ext cx="5942201" cy="1158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7F3CA5-C269-4E8B-A941-5E197B009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858" y="5282633"/>
            <a:ext cx="3207447" cy="1165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E8B729-47C4-4712-AFCF-57E36A9F8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976" y="5316923"/>
            <a:ext cx="5644650" cy="10555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EA003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4149909" y="2743200"/>
            <a:ext cx="388835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800" b="1" strike="noStrike" spc="-1" dirty="0" err="1">
                <a:solidFill>
                  <a:srgbClr val="FFFFFF"/>
                </a:solidFill>
                <a:latin typeface="Calibri"/>
              </a:rPr>
              <a:t>Partie</a:t>
            </a:r>
            <a:r>
              <a:rPr lang="en-US" sz="4800" b="1" strike="noStrike" spc="-1" dirty="0">
                <a:solidFill>
                  <a:srgbClr val="FFFFFF"/>
                </a:solidFill>
                <a:latin typeface="Calibri"/>
              </a:rPr>
              <a:t> 4 : Code</a:t>
            </a:r>
            <a:endParaRPr lang="en-US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2"/>
          <p:cNvSpPr/>
          <p:nvPr/>
        </p:nvSpPr>
        <p:spPr>
          <a:xfrm>
            <a:off x="3087360" y="274320"/>
            <a:ext cx="60134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Fonctions du Package CHAID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8" name="Table 3"/>
          <p:cNvGraphicFramePr/>
          <p:nvPr/>
        </p:nvGraphicFramePr>
        <p:xfrm>
          <a:off x="612720" y="1371600"/>
          <a:ext cx="10972800" cy="370332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Calibri"/>
                        </a:rPr>
                        <a:t>Fonction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4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CHAID()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Initialiser l'arbre avec les paramètres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fit()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Construire l'arbre de décision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print_tree()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Afficher la structure en texte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plot_tree()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Visualisation horizontale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plot_tree_graph()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Visualisation en graphe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get_predictor_summary_table()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Résumé de tous les prédicteurs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get_merge_pairwise_table()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Comparaisons χ² paire à paire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tree_summary()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Statistiques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globales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de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l'arbre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0" y="0"/>
            <a:ext cx="12188520" cy="109692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2"/>
          <p:cNvSpPr/>
          <p:nvPr/>
        </p:nvSpPr>
        <p:spPr>
          <a:xfrm>
            <a:off x="2404080" y="274320"/>
            <a:ext cx="738036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FFFFFF"/>
                </a:solidFill>
                <a:latin typeface="Calibri"/>
              </a:rPr>
              <a:t>Paramètres du Constructeur CHAID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1" name="Table 3"/>
          <p:cNvGraphicFramePr/>
          <p:nvPr>
            <p:extLst>
              <p:ext uri="{D42A27DB-BD31-4B8C-83A1-F6EECF244321}">
                <p14:modId xmlns:p14="http://schemas.microsoft.com/office/powerpoint/2010/main" val="3046093691"/>
              </p:ext>
            </p:extLst>
          </p:nvPr>
        </p:nvGraphicFramePr>
        <p:xfrm>
          <a:off x="612720" y="1371600"/>
          <a:ext cx="10972800" cy="37033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Calibri"/>
                        </a:rPr>
                        <a:t>Paramètre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Calibri"/>
                        </a:rPr>
                        <a:t>Défaut</a:t>
                      </a:r>
                      <a:endParaRPr lang="en-US" sz="14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4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df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DataFrame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pandas avec les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données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requis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target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Nom de la variable cible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requis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predictors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Dict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{nom: type} des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prédicteurs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requis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alpha_merge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Seuil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pour fusion des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catégories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alpha_split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Seuil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pour partition du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nœud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0.049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min_node_size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Taille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minimale</a:t>
                      </a: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 d'un </a:t>
                      </a:r>
                      <a:r>
                        <a:rPr lang="en-US" sz="1300" b="0" strike="noStrike" spc="-1" dirty="0" err="1">
                          <a:solidFill>
                            <a:srgbClr val="000000"/>
                          </a:solidFill>
                          <a:latin typeface="Calibri"/>
                        </a:rPr>
                        <a:t>nœud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max_depth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Profondeur maximale de l'arbre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bonferroni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Appliquer la correction Bonferroni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True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CC00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2"/>
          <p:cNvSpPr/>
          <p:nvPr/>
        </p:nvSpPr>
        <p:spPr>
          <a:xfrm>
            <a:off x="2169318" y="2967882"/>
            <a:ext cx="7849883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5400" b="1" strike="noStrike" spc="-1" dirty="0">
                <a:solidFill>
                  <a:srgbClr val="FFFFFF"/>
                </a:solidFill>
                <a:latin typeface="Calibri"/>
              </a:rPr>
              <a:t>Merci pour </a:t>
            </a:r>
            <a:r>
              <a:rPr lang="en-US" sz="5400" b="1" strike="noStrike" spc="-1" dirty="0" err="1">
                <a:solidFill>
                  <a:srgbClr val="FFFFFF"/>
                </a:solidFill>
                <a:latin typeface="Calibri"/>
              </a:rPr>
              <a:t>votre</a:t>
            </a:r>
            <a:r>
              <a:rPr lang="en-US" sz="5400" b="1" strike="noStrike" spc="-1" dirty="0">
                <a:solidFill>
                  <a:srgbClr val="FFFFFF"/>
                </a:solidFill>
                <a:latin typeface="Calibri"/>
              </a:rPr>
              <a:t> attention</a:t>
            </a:r>
            <a:endParaRPr lang="en-US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873</Words>
  <Application>Microsoft Office PowerPoint</Application>
  <PresentationFormat>Custom</PresentationFormat>
  <Paragraphs>144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25</vt:i4>
      </vt:variant>
    </vt:vector>
  </HeadingPairs>
  <TitlesOfParts>
    <vt:vector size="44" baseType="lpstr">
      <vt:lpstr>Arial</vt:lpstr>
      <vt:lpstr>Arial Rounded MT Bold</vt:lpstr>
      <vt:lpstr>Calibri</vt:lpstr>
      <vt:lpstr>Poppins Bold</vt:lpstr>
      <vt:lpstr>Poppins Medium Bold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>generated using python-pptx</dc:description>
  <cp:lastModifiedBy>LENOVO</cp:lastModifiedBy>
  <cp:revision>24</cp:revision>
  <dcterms:created xsi:type="dcterms:W3CDTF">2013-01-27T09:14:16Z</dcterms:created>
  <dcterms:modified xsi:type="dcterms:W3CDTF">2025-12-17T08:52:02Z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